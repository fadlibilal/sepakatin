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[00:00 - 00:30] PEMBUKAAN &amp; HOOK:</a:t>
            </a:r>
          </a:p>
          <a:p>
            <a:r>
              <a:t>Halo Dewan Juri dan Rekan-rekan sekalian. Bayangkan seorang freelancer yang sudah bekerja siang malam selama 3 minggu membuat website, namun saat tiba hari pelunasan, klien meminta revisi ke-15 yang tidak masuk akal atau bahkan menghilang tanpa kabar.</a:t>
            </a:r>
          </a:p>
          <a:p>
            <a:r>
              <a:t>Kenapa ini terjadi? Karena kesepakatan mereka hanya terkubur di chat WhatsApp yang tidak punya kekuatan acuan tertulis. Hari ini, kami mempersembahkan KontrakKu.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[00:30 - 01:15] MASALAH UTAMA:</a:t>
            </a:r>
          </a:p>
          <a:p>
            <a:r>
              <a:t>Ada 3 masalah utama yang terus berulang: Pertama, Scope Creep liar—klien merasa sudah membayar maka bebas minta apa saja. Kedua, revisi tanpa batas tanpa kompensasi tambahan. Ketiga, sengketa pelunasan saat hasil kerja diserahkan.</a:t>
            </a:r>
          </a:p>
          <a:p>
            <a:r>
              <a:t>Kenapa mereka tidak pakai jasa hukum? Karena menyewa advokat atau notaris untuk proyek senilai 5–10 juta itu tidak masuk akal secara biaya. Solusinya harus instan, murah, dan dapat diakses langsung via browser.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[01:15 - 02:00] SOLUSI KONTRAKKU:</a:t>
            </a:r>
          </a:p>
          <a:p>
            <a:r>
              <a:t>KontrakKu menjawab kebutuhan tersebut secara menyeluruh. Freelancer hanya perlu mengisi 5 komponen vital dalam formulir kami. Sistem akan membuat draf profesional yang langsung bisa dikirimkan ke klien via link aman.</a:t>
            </a:r>
          </a:p>
          <a:p>
            <a:r>
              <a:t>Klien tidak perlu repot mendaftar akun! Mereka cukup membuka link di ponsel, memeriksa klausul, dan menyetujui. Sekali disetujui, dokumen langsung terkunci dengan segel keamanan digital.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[02:00 - 03:00] FITUR e-MATERAI RESMI:</a:t>
            </a:r>
          </a:p>
          <a:p>
            <a:r>
              <a:t>Salah satu fitur paling unggul dari KontrakKu adalah integrasi alur e-Materai Resmi RI. Sesuai UU Bea Meterai, perjanjian bernilai di atas Rp5 juta memiliki kekuatan bukti lebih kokoh bila menggunakan meterai.</a:t>
            </a:r>
          </a:p>
          <a:p>
            <a:r>
              <a:t>Kami menyediakan tautan resmi ke e-meterai.co.id, dan yang terpenting: sistem kami memandu posisi penempatan tanda tangan agar berada di sebelah kanan meterai, bukan menimpa barcode e-materai yang sering kali menyebabkan dokumen gagal validasi di pengadilan atau perbankan.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[03:00 - 04:00] DEMO LANGSUNG (WALKTHROUGH):</a:t>
            </a:r>
          </a:p>
          <a:p>
            <a:r>
              <a:t>Mari kita lihat langsung aplikasinya: (1) Pertama, freelancer masuk ke Dashboard dan membuat kesepakatan baru. Rincian proyek, deliverables, dan termin pembayaran langsung terkalkulasi rapi.</a:t>
            </a:r>
          </a:p>
          <a:p>
            <a:r>
              <a:t>(2) Klien menerima link dan melakukan review. Klien bisa langsung tanda tangan. (3) Freelancer menambahkan e-materai. (4) Dan terakhir, kami uji di halaman verifikasi: masukkan ID KK-2026-00124, status langsung terverifikasi asli &amp; terkunci!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[04:00 - 04:40] MODEL BISNIS &amp; UNIT ECONOMICS:</a:t>
            </a:r>
          </a:p>
          <a:p>
            <a:r>
              <a:t>Bagaimana KontrakKu menghasilkan pendapatan? Kami menyediakan skema Pay-per-Project hanya Rp19.000 per kesepakatan. Bayangkan rasio ini: untuk proyek bernilai Rp8 juta, biaya Rp19 ribu hanya setara dengan 0,23% dari nilai proyek!</a:t>
            </a:r>
          </a:p>
          <a:p>
            <a:r>
              <a:t>Freelancer bersedia membayar karena nilai proteksi 99,76% jauh lebih besar daripada risiko kehilangan honor jutaan rupiah akibat sengketa. Untuk agensi aktif, kami sediakan paket Pro Rp49.000/bulan.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[04:40 - 05:00] PENUTUP &amp; KESIMPULAN:</a:t>
            </a:r>
          </a:p>
          <a:p>
            <a:r>
              <a:t>Bapak dan Ibu Dewan Juri, KontrakKu siap digunakan hari ini. Platform ini sudah online, responsif, minimalis, dan siap mengubah cara jutaan freelancer Indonesia bertransaksi dengan aman.</a:t>
            </a:r>
          </a:p>
          <a:p>
            <a:r>
              <a:t>Mari bersama kita lindungi karya dan keringat talenta kreatif bangsa. Terima kasih, dan kami siap untuk sesi tanya jawab.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1645920"/>
            <a:ext cx="1371600" cy="91440"/>
          </a:xfrm>
          <a:prstGeom prst="rect">
            <a:avLst/>
          </a:prstGeom>
          <a:solidFill>
            <a:srgbClr val="0A1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920240"/>
            <a:ext cx="10058400" cy="2286000"/>
          </a:xfrm>
          <a:prstGeom prst="rect">
            <a:avLst/>
          </a:prstGeom>
          <a:noFill/>
        </p:spPr>
        <p:txBody>
          <a:bodyPr wrap="square">
            <a:spAutoFit/>
          </a:bodyPr>
          <a:lstStyle/>
          <a:p>
            <a:pPr>
              <a:spcAft>
                <a:spcPts val="1000"/>
              </a:spcAft>
              <a:defRPr sz="1600" b="1">
                <a:solidFill>
                  <a:srgbClr val="0A1FD4"/>
                </a:solidFill>
                <a:latin typeface="Arial"/>
              </a:defRPr>
            </a:pPr>
            <a:r>
              <a:t>KONTRAKKU</a:t>
            </a:r>
          </a:p>
          <a:p>
            <a:pPr>
              <a:spcAft>
                <a:spcPts val="1600"/>
              </a:spcAft>
              <a:defRPr sz="3600" b="1">
                <a:solidFill>
                  <a:srgbClr val="0F172A"/>
                </a:solidFill>
                <a:latin typeface="Arial"/>
              </a:defRPr>
            </a:pPr>
            <a:r>
              <a:t>Ubah Kesepakatan Chat WhatsApp</a:t>
            </a:r>
            <a:br/>
            <a:r>
              <a:t>Menjadi Kontrak Sah &amp; Terlindungi</a:t>
            </a:r>
          </a:p>
          <a:p>
            <a:pPr>
              <a:defRPr sz="1400">
                <a:solidFill>
                  <a:srgbClr val="64748B"/>
                </a:solidFill>
                <a:latin typeface="Arial"/>
              </a:defRPr>
            </a:pPr>
            <a:r>
              <a:t>Platform Kesepakatan Proyek Digital &amp; Proteksi Finansial untuk Freelancer Indonesia</a:t>
            </a:r>
            <a:br/>
            <a:r>
              <a:t>Dilengkapi Alur e-Materai Resmi RI &amp; Segel Keamanan Anti-Manipulasi</a:t>
            </a:r>
          </a:p>
        </p:txBody>
      </p:sp>
      <p:sp>
        <p:nvSpPr>
          <p:cNvPr id="4" name="Rounded Rectangle 3"/>
          <p:cNvSpPr/>
          <p:nvPr/>
        </p:nvSpPr>
        <p:spPr>
          <a:xfrm>
            <a:off x="731520" y="4937760"/>
            <a:ext cx="5029200"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5029200"/>
            <a:ext cx="4663440" cy="914400"/>
          </a:xfrm>
          <a:prstGeom prst="rect">
            <a:avLst/>
          </a:prstGeom>
          <a:noFill/>
        </p:spPr>
        <p:txBody>
          <a:bodyPr wrap="none">
            <a:spAutoFit/>
          </a:bodyPr>
          <a:lstStyle/>
          <a:p>
            <a:pPr>
              <a:defRPr b="1" sz="1300">
                <a:solidFill>
                  <a:srgbClr val="0A1FD4"/>
                </a:solidFill>
              </a:defRPr>
            </a:pPr>
            <a:r>
              <a:t>Presentasi Kompetisi 5 Menit</a:t>
            </a:r>
          </a:p>
          <a:p>
            <a:pPr>
              <a:defRPr sz="1100">
                <a:solidFill>
                  <a:srgbClr val="64748B"/>
                </a:solidFill>
              </a:defRPr>
            </a:pPr>
            <a:r>
              <a:t>Fadli Bilal &amp; Tim Inovasi KontrakKu</a:t>
            </a:r>
            <a:br/>
            <a:r>
              <a:t>Live Demo Ready: http://localhost:3001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365760"/>
          </a:xfrm>
          <a:prstGeom prst="rect">
            <a:avLst/>
          </a:prstGeom>
          <a:noFill/>
        </p:spPr>
        <p:txBody>
          <a:bodyPr wrap="none">
            <a:spAutoFit/>
          </a:bodyPr>
          <a:lstStyle/>
          <a:p>
            <a:pPr>
              <a:defRPr sz="1100" b="1">
                <a:solidFill>
                  <a:srgbClr val="0A1FD4"/>
                </a:solidFill>
                <a:latin typeface="Arial"/>
              </a:defRPr>
            </a:pPr>
            <a:r>
              <a:t>MASALAH NYATA PASAR</a:t>
            </a:r>
          </a:p>
        </p:txBody>
      </p:sp>
      <p:sp>
        <p:nvSpPr>
          <p:cNvPr id="3" name="TextBox 2"/>
          <p:cNvSpPr txBox="1"/>
          <p:nvPr/>
        </p:nvSpPr>
        <p:spPr>
          <a:xfrm>
            <a:off x="731520" y="868680"/>
            <a:ext cx="10515600" cy="731520"/>
          </a:xfrm>
          <a:prstGeom prst="rect">
            <a:avLst/>
          </a:prstGeom>
          <a:noFill/>
        </p:spPr>
        <p:txBody>
          <a:bodyPr wrap="none">
            <a:spAutoFit/>
          </a:bodyPr>
          <a:lstStyle/>
          <a:p>
            <a:pPr>
              <a:defRPr sz="2600" b="1">
                <a:solidFill>
                  <a:srgbClr val="0F172A"/>
                </a:solidFill>
                <a:latin typeface="Arial"/>
              </a:defRPr>
            </a:pPr>
            <a:r>
              <a:t>Realitas Pahit 68% Freelancer Digital di Indonesia</a:t>
            </a:r>
          </a:p>
        </p:txBody>
      </p:sp>
      <p:sp>
        <p:nvSpPr>
          <p:cNvPr id="4" name="TextBox 3"/>
          <p:cNvSpPr txBox="1"/>
          <p:nvPr/>
        </p:nvSpPr>
        <p:spPr>
          <a:xfrm>
            <a:off x="731520" y="1600200"/>
            <a:ext cx="10515600" cy="457200"/>
          </a:xfrm>
          <a:prstGeom prst="rect">
            <a:avLst/>
          </a:prstGeom>
          <a:noFill/>
        </p:spPr>
        <p:txBody>
          <a:bodyPr wrap="none">
            <a:spAutoFit/>
          </a:bodyPr>
          <a:lstStyle/>
          <a:p>
            <a:pPr>
              <a:defRPr sz="1300">
                <a:solidFill>
                  <a:srgbClr val="64748B"/>
                </a:solidFill>
                <a:latin typeface="Arial"/>
              </a:defRPr>
            </a:pPr>
            <a:r>
              <a:t>Bekerja keras menghasilkan karya terbaik, namun rentan dirugikan secara finansial.</a:t>
            </a:r>
          </a:p>
        </p:txBody>
      </p:sp>
      <p:sp>
        <p:nvSpPr>
          <p:cNvPr id="5" name="Rounded Rectangle 4"/>
          <p:cNvSpPr/>
          <p:nvPr/>
        </p:nvSpPr>
        <p:spPr>
          <a:xfrm>
            <a:off x="731520" y="219456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68880"/>
            <a:ext cx="2834640" cy="3291840"/>
          </a:xfrm>
          <a:prstGeom prst="rect">
            <a:avLst/>
          </a:prstGeom>
          <a:noFill/>
        </p:spPr>
        <p:txBody>
          <a:bodyPr wrap="square">
            <a:spAutoFit/>
          </a:bodyPr>
          <a:lstStyle/>
          <a:p>
            <a:pPr>
              <a:spcAft>
                <a:spcPts val="1200"/>
              </a:spcAft>
              <a:defRPr sz="1200" b="1">
                <a:solidFill>
                  <a:srgbClr val="0A1FD4"/>
                </a:solidFill>
              </a:defRPr>
            </a:pPr>
            <a:r>
              <a:t>68% Freelancer</a:t>
            </a:r>
          </a:p>
          <a:p>
            <a:pPr>
              <a:spcAft>
                <a:spcPts val="1000"/>
              </a:spcAft>
              <a:defRPr sz="1800" b="1">
                <a:solidFill>
                  <a:srgbClr val="0F172A"/>
                </a:solidFill>
              </a:defRPr>
            </a:pPr>
            <a:r>
              <a:t>Scope Creep Liar</a:t>
            </a:r>
          </a:p>
          <a:p>
            <a:pPr>
              <a:defRPr sz="1200">
                <a:solidFill>
                  <a:srgbClr val="64748B"/>
                </a:solidFill>
              </a:defRPr>
            </a:pPr>
            <a:r>
              <a:t>Klien meminta penambahan fitur dan halaman baru secara cuma-cuma karena ruang lingkup awal tidak pernah dikunci secara resmi.</a:t>
            </a:r>
          </a:p>
        </p:txBody>
      </p:sp>
      <p:sp>
        <p:nvSpPr>
          <p:cNvPr id="7" name="Rounded Rectangle 6"/>
          <p:cNvSpPr/>
          <p:nvPr/>
        </p:nvSpPr>
        <p:spPr>
          <a:xfrm>
            <a:off x="4343400" y="219456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468880"/>
            <a:ext cx="2834640" cy="3291840"/>
          </a:xfrm>
          <a:prstGeom prst="rect">
            <a:avLst/>
          </a:prstGeom>
          <a:noFill/>
        </p:spPr>
        <p:txBody>
          <a:bodyPr wrap="square">
            <a:spAutoFit/>
          </a:bodyPr>
          <a:lstStyle/>
          <a:p>
            <a:pPr>
              <a:spcAft>
                <a:spcPts val="1200"/>
              </a:spcAft>
              <a:defRPr sz="1200" b="1">
                <a:solidFill>
                  <a:srgbClr val="0A1FD4"/>
                </a:solidFill>
              </a:defRPr>
            </a:pPr>
            <a:r>
              <a:t>54% Freelancer</a:t>
            </a:r>
          </a:p>
          <a:p>
            <a:pPr>
              <a:spcAft>
                <a:spcPts val="1000"/>
              </a:spcAft>
              <a:defRPr sz="1800" b="1">
                <a:solidFill>
                  <a:srgbClr val="0F172A"/>
                </a:solidFill>
              </a:defRPr>
            </a:pPr>
            <a:r>
              <a:t>Revisi Tanpa Batas</a:t>
            </a:r>
          </a:p>
          <a:p>
            <a:pPr>
              <a:defRPr sz="1200">
                <a:solidFill>
                  <a:srgbClr val="64748B"/>
                </a:solidFill>
              </a:defRPr>
            </a:pPr>
            <a:r>
              <a:t>Tanpa kuota revisi yang jelas, freelancer terjebak dalam siklus perbaikan tanpa akhir yang memakan waktu dan biaya operasional.</a:t>
            </a:r>
          </a:p>
        </p:txBody>
      </p:sp>
      <p:sp>
        <p:nvSpPr>
          <p:cNvPr id="9" name="Rounded Rectangle 8"/>
          <p:cNvSpPr/>
          <p:nvPr/>
        </p:nvSpPr>
        <p:spPr>
          <a:xfrm>
            <a:off x="7955280" y="219456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468880"/>
            <a:ext cx="2834640" cy="3291840"/>
          </a:xfrm>
          <a:prstGeom prst="rect">
            <a:avLst/>
          </a:prstGeom>
          <a:noFill/>
        </p:spPr>
        <p:txBody>
          <a:bodyPr wrap="square">
            <a:spAutoFit/>
          </a:bodyPr>
          <a:lstStyle/>
          <a:p>
            <a:pPr>
              <a:spcAft>
                <a:spcPts val="1200"/>
              </a:spcAft>
              <a:defRPr sz="1200" b="1">
                <a:solidFill>
                  <a:srgbClr val="0A1FD4"/>
                </a:solidFill>
              </a:defRPr>
            </a:pPr>
            <a:r>
              <a:t>47% Freelancer</a:t>
            </a:r>
          </a:p>
          <a:p>
            <a:pPr>
              <a:spcAft>
                <a:spcPts val="1000"/>
              </a:spcAft>
              <a:defRPr sz="1800" b="1">
                <a:solidFill>
                  <a:srgbClr val="0F172A"/>
                </a:solidFill>
              </a:defRPr>
            </a:pPr>
            <a:r>
              <a:t>Sengketa Pelunasan</a:t>
            </a:r>
          </a:p>
          <a:p>
            <a:pPr>
              <a:defRPr sz="1200">
                <a:solidFill>
                  <a:srgbClr val="64748B"/>
                </a:solidFill>
              </a:defRPr>
            </a:pPr>
            <a:r>
              <a:t>Penyerahan aset final sering dilakukan sebelum pelunasan diterima, membuka celah klien menunda atau mangkir bayar.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365760"/>
          </a:xfrm>
          <a:prstGeom prst="rect">
            <a:avLst/>
          </a:prstGeom>
          <a:noFill/>
        </p:spPr>
        <p:txBody>
          <a:bodyPr wrap="none">
            <a:spAutoFit/>
          </a:bodyPr>
          <a:lstStyle/>
          <a:p>
            <a:pPr>
              <a:defRPr sz="1100" b="1">
                <a:solidFill>
                  <a:srgbClr val="0A1FD4"/>
                </a:solidFill>
                <a:latin typeface="Arial"/>
              </a:defRPr>
            </a:pPr>
            <a:r>
              <a:t>SOLUSI KONTRAKKU</a:t>
            </a:r>
          </a:p>
        </p:txBody>
      </p:sp>
      <p:sp>
        <p:nvSpPr>
          <p:cNvPr id="3" name="TextBox 2"/>
          <p:cNvSpPr txBox="1"/>
          <p:nvPr/>
        </p:nvSpPr>
        <p:spPr>
          <a:xfrm>
            <a:off x="731520" y="868680"/>
            <a:ext cx="10515600" cy="731520"/>
          </a:xfrm>
          <a:prstGeom prst="rect">
            <a:avLst/>
          </a:prstGeom>
          <a:noFill/>
        </p:spPr>
        <p:txBody>
          <a:bodyPr wrap="none">
            <a:spAutoFit/>
          </a:bodyPr>
          <a:lstStyle/>
          <a:p>
            <a:pPr>
              <a:defRPr sz="2600" b="1">
                <a:solidFill>
                  <a:srgbClr val="0F172A"/>
                </a:solidFill>
                <a:latin typeface="Arial"/>
              </a:defRPr>
            </a:pPr>
            <a:r>
              <a:t>Satu Platform untuk Mengunci Hak &amp; Kewajiban Proyek</a:t>
            </a:r>
          </a:p>
        </p:txBody>
      </p:sp>
      <p:sp>
        <p:nvSpPr>
          <p:cNvPr id="4" name="TextBox 3"/>
          <p:cNvSpPr txBox="1"/>
          <p:nvPr/>
        </p:nvSpPr>
        <p:spPr>
          <a:xfrm>
            <a:off x="731520" y="1600200"/>
            <a:ext cx="10515600" cy="457200"/>
          </a:xfrm>
          <a:prstGeom prst="rect">
            <a:avLst/>
          </a:prstGeom>
          <a:noFill/>
        </p:spPr>
        <p:txBody>
          <a:bodyPr wrap="none">
            <a:spAutoFit/>
          </a:bodyPr>
          <a:lstStyle/>
          <a:p>
            <a:pPr>
              <a:defRPr sz="1300">
                <a:solidFill>
                  <a:srgbClr val="64748B"/>
                </a:solidFill>
                <a:latin typeface="Arial"/>
              </a:defRPr>
            </a:pPr>
            <a:r>
              <a:t>Mengubah percakapan santai menjadi dokumen kesepakatan digital yang tertata rapi.</a:t>
            </a:r>
          </a:p>
        </p:txBody>
      </p:sp>
      <p:sp>
        <p:nvSpPr>
          <p:cNvPr id="5" name="Rounded Rectangle 4"/>
          <p:cNvSpPr/>
          <p:nvPr/>
        </p:nvSpPr>
        <p:spPr>
          <a:xfrm>
            <a:off x="731520" y="2194560"/>
            <a:ext cx="5212080" cy="1691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77440"/>
            <a:ext cx="4663440" cy="1280160"/>
          </a:xfrm>
          <a:prstGeom prst="rect">
            <a:avLst/>
          </a:prstGeom>
          <a:noFill/>
        </p:spPr>
        <p:txBody>
          <a:bodyPr wrap="square">
            <a:spAutoFit/>
          </a:bodyPr>
          <a:lstStyle/>
          <a:p>
            <a:pPr>
              <a:spcAft>
                <a:spcPts val="600"/>
              </a:spcAft>
              <a:defRPr sz="1500" b="1">
                <a:solidFill>
                  <a:srgbClr val="0A1FD4"/>
                </a:solidFill>
              </a:defRPr>
            </a:pPr>
            <a:r>
              <a:t>1. Kesepakatan Terstruktur</a:t>
            </a:r>
          </a:p>
          <a:p>
            <a:pPr>
              <a:defRPr sz="1150">
                <a:solidFill>
                  <a:srgbClr val="0F172A"/>
                </a:solidFill>
              </a:defRPr>
            </a:pPr>
            <a:r>
              <a:t>Formulir cerdas yang otomatis mengunci 5 klausul krusial: Deliverables, Exclusions, Kuota Revisi, Termin Pembayaran, dan Hak Cipta.</a:t>
            </a:r>
          </a:p>
        </p:txBody>
      </p:sp>
      <p:sp>
        <p:nvSpPr>
          <p:cNvPr id="7" name="Rounded Rectangle 6"/>
          <p:cNvSpPr/>
          <p:nvPr/>
        </p:nvSpPr>
        <p:spPr>
          <a:xfrm>
            <a:off x="6126480" y="2194560"/>
            <a:ext cx="5212080" cy="1691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377440"/>
            <a:ext cx="4663440" cy="1280160"/>
          </a:xfrm>
          <a:prstGeom prst="rect">
            <a:avLst/>
          </a:prstGeom>
          <a:noFill/>
        </p:spPr>
        <p:txBody>
          <a:bodyPr wrap="square">
            <a:spAutoFit/>
          </a:bodyPr>
          <a:lstStyle/>
          <a:p>
            <a:pPr>
              <a:spcAft>
                <a:spcPts val="600"/>
              </a:spcAft>
              <a:defRPr sz="1500" b="1">
                <a:solidFill>
                  <a:srgbClr val="0A1FD4"/>
                </a:solidFill>
              </a:defRPr>
            </a:pPr>
            <a:r>
              <a:t>2. Portal Review Klien</a:t>
            </a:r>
          </a:p>
          <a:p>
            <a:pPr>
              <a:defRPr sz="1150">
                <a:solidFill>
                  <a:srgbClr val="0F172A"/>
                </a:solidFill>
              </a:defRPr>
            </a:pPr>
            <a:r>
              <a:t>Klien menerima tautan undangan langsung tanpa perlu login. Dapat membaca, menyetujui, atau mengajukan penyesuaian klausul secara terbuka.</a:t>
            </a:r>
          </a:p>
        </p:txBody>
      </p:sp>
      <p:sp>
        <p:nvSpPr>
          <p:cNvPr id="9" name="Rounded Rectangle 8"/>
          <p:cNvSpPr/>
          <p:nvPr/>
        </p:nvSpPr>
        <p:spPr>
          <a:xfrm>
            <a:off x="731520" y="4114800"/>
            <a:ext cx="5212080" cy="1691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297680"/>
            <a:ext cx="4663440" cy="1280160"/>
          </a:xfrm>
          <a:prstGeom prst="rect">
            <a:avLst/>
          </a:prstGeom>
          <a:noFill/>
        </p:spPr>
        <p:txBody>
          <a:bodyPr wrap="square">
            <a:spAutoFit/>
          </a:bodyPr>
          <a:lstStyle/>
          <a:p>
            <a:pPr>
              <a:spcAft>
                <a:spcPts val="600"/>
              </a:spcAft>
              <a:defRPr sz="1500" b="1">
                <a:solidFill>
                  <a:srgbClr val="0A1FD4"/>
                </a:solidFill>
              </a:defRPr>
            </a:pPr>
            <a:r>
              <a:t>3. Segel Keamanan Digital</a:t>
            </a:r>
          </a:p>
          <a:p>
            <a:pPr>
              <a:defRPr sz="1150">
                <a:solidFill>
                  <a:srgbClr val="0F172A"/>
                </a:solidFill>
              </a:defRPr>
            </a:pPr>
            <a:r>
              <a:t>Begitu kedua pihak menyetujui, isi kesepakatan dikunci permanen. Segala modifikasi sepihak akan langsung terbaca tidak sah.</a:t>
            </a:r>
          </a:p>
        </p:txBody>
      </p:sp>
      <p:sp>
        <p:nvSpPr>
          <p:cNvPr id="11" name="Rounded Rectangle 10"/>
          <p:cNvSpPr/>
          <p:nvPr/>
        </p:nvSpPr>
        <p:spPr>
          <a:xfrm>
            <a:off x="6126480" y="4114800"/>
            <a:ext cx="5212080" cy="1691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97680"/>
            <a:ext cx="4663440" cy="1280160"/>
          </a:xfrm>
          <a:prstGeom prst="rect">
            <a:avLst/>
          </a:prstGeom>
          <a:noFill/>
        </p:spPr>
        <p:txBody>
          <a:bodyPr wrap="square">
            <a:spAutoFit/>
          </a:bodyPr>
          <a:lstStyle/>
          <a:p>
            <a:pPr>
              <a:spcAft>
                <a:spcPts val="600"/>
              </a:spcAft>
              <a:defRPr sz="1500" b="1">
                <a:solidFill>
                  <a:srgbClr val="0A1FD4"/>
                </a:solidFill>
              </a:defRPr>
            </a:pPr>
            <a:r>
              <a:t>4. Ekspor &amp; Verifikasi Resmi</a:t>
            </a:r>
          </a:p>
          <a:p>
            <a:pPr>
              <a:defRPr sz="1150">
                <a:solidFill>
                  <a:srgbClr val="0F172A"/>
                </a:solidFill>
              </a:defRPr>
            </a:pPr>
            <a:r>
              <a:t>Dokumen dapat dicetak ke format A4 PDF standar dengan QR Code verifikasi publik yang bisa dicek keabsahannya kapan saja.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365760"/>
          </a:xfrm>
          <a:prstGeom prst="rect">
            <a:avLst/>
          </a:prstGeom>
          <a:noFill/>
        </p:spPr>
        <p:txBody>
          <a:bodyPr wrap="none">
            <a:spAutoFit/>
          </a:bodyPr>
          <a:lstStyle/>
          <a:p>
            <a:pPr>
              <a:defRPr sz="1100" b="1">
                <a:solidFill>
                  <a:srgbClr val="0A1FD4"/>
                </a:solidFill>
                <a:latin typeface="Arial"/>
              </a:defRPr>
            </a:pPr>
            <a:r>
              <a:t>INOVASI REGULASI RI</a:t>
            </a:r>
          </a:p>
        </p:txBody>
      </p:sp>
      <p:sp>
        <p:nvSpPr>
          <p:cNvPr id="3" name="TextBox 2"/>
          <p:cNvSpPr txBox="1"/>
          <p:nvPr/>
        </p:nvSpPr>
        <p:spPr>
          <a:xfrm>
            <a:off x="731520" y="868680"/>
            <a:ext cx="10515600" cy="731520"/>
          </a:xfrm>
          <a:prstGeom prst="rect">
            <a:avLst/>
          </a:prstGeom>
          <a:noFill/>
        </p:spPr>
        <p:txBody>
          <a:bodyPr wrap="none">
            <a:spAutoFit/>
          </a:bodyPr>
          <a:lstStyle/>
          <a:p>
            <a:pPr>
              <a:defRPr sz="2600" b="1">
                <a:solidFill>
                  <a:srgbClr val="0F172A"/>
                </a:solidFill>
                <a:latin typeface="Arial"/>
              </a:defRPr>
            </a:pPr>
            <a:r>
              <a:t>Integrasi e-Materai Resmi &amp; Panduan Tanda Tangan</a:t>
            </a:r>
          </a:p>
        </p:txBody>
      </p:sp>
      <p:sp>
        <p:nvSpPr>
          <p:cNvPr id="4" name="TextBox 3"/>
          <p:cNvSpPr txBox="1"/>
          <p:nvPr/>
        </p:nvSpPr>
        <p:spPr>
          <a:xfrm>
            <a:off x="731520" y="1600200"/>
            <a:ext cx="10515600" cy="457200"/>
          </a:xfrm>
          <a:prstGeom prst="rect">
            <a:avLst/>
          </a:prstGeom>
          <a:noFill/>
        </p:spPr>
        <p:txBody>
          <a:bodyPr wrap="none">
            <a:spAutoFit/>
          </a:bodyPr>
          <a:lstStyle/>
          <a:p>
            <a:pPr>
              <a:defRPr sz="1300">
                <a:solidFill>
                  <a:srgbClr val="64748B"/>
                </a:solidFill>
                <a:latin typeface="Arial"/>
              </a:defRPr>
            </a:pPr>
            <a:r>
              <a:t>Mematuhi UU Bea Meterai No. 10 Tahun 2020 dengan tata letak tanda tangan yang presisi.</a:t>
            </a:r>
          </a:p>
        </p:txBody>
      </p:sp>
      <p:sp>
        <p:nvSpPr>
          <p:cNvPr id="5" name="Rounded Rectangle 4"/>
          <p:cNvSpPr/>
          <p:nvPr/>
        </p:nvSpPr>
        <p:spPr>
          <a:xfrm>
            <a:off x="731520" y="2194560"/>
            <a:ext cx="52120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68880"/>
            <a:ext cx="4663440" cy="3291840"/>
          </a:xfrm>
          <a:prstGeom prst="rect">
            <a:avLst/>
          </a:prstGeom>
          <a:noFill/>
        </p:spPr>
        <p:txBody>
          <a:bodyPr wrap="square">
            <a:spAutoFit/>
          </a:bodyPr>
          <a:lstStyle/>
          <a:p>
            <a:pPr>
              <a:spcAft>
                <a:spcPts val="1200"/>
              </a:spcAft>
              <a:defRPr b="1" sz="1600">
                <a:solidFill>
                  <a:srgbClr val="0A1FD4"/>
                </a:solidFill>
              </a:defRPr>
            </a:pPr>
            <a:r>
              <a:t>Alur Legalitas e-Materai Resmi:</a:t>
            </a:r>
          </a:p>
          <a:p>
            <a:pPr>
              <a:spcAft>
                <a:spcPts val="800"/>
              </a:spcAft>
              <a:defRPr sz="1150">
                <a:solidFill>
                  <a:srgbClr val="0F172A"/>
                </a:solidFill>
              </a:defRPr>
            </a:pPr>
            <a:r>
              <a:t>1. Pembelian via Laman Resmi: Freelancer diarahkan ke portal resmi e-meterai.co.id (bukan meterai rekayasa).</a:t>
            </a:r>
          </a:p>
          <a:p>
            <a:pPr>
              <a:spcAft>
                <a:spcPts val="800"/>
              </a:spcAft>
              <a:defRPr sz="1150">
                <a:solidFill>
                  <a:srgbClr val="0F172A"/>
                </a:solidFill>
              </a:defRPr>
            </a:pPr>
            <a:r>
              <a:t>2. Upload e-Materai Mandiri: Freelancer mengunggah e-materai setelah kedua belah pihak menyetujui draf.</a:t>
            </a:r>
          </a:p>
          <a:p>
            <a:pPr>
              <a:spcAft>
                <a:spcPts val="800"/>
              </a:spcAft>
              <a:defRPr sz="1150">
                <a:solidFill>
                  <a:srgbClr val="0F172A"/>
                </a:solidFill>
              </a:defRPr>
            </a:pPr>
            <a:r>
              <a:t>3. Posisi Presisi: e-Materai otomatis ditempatkan pada kolom tanda tangan klien di atas nama lengkap.</a:t>
            </a:r>
          </a:p>
          <a:p>
            <a:pPr>
              <a:spcAft>
                <a:spcPts val="800"/>
              </a:spcAft>
              <a:defRPr sz="1150">
                <a:solidFill>
                  <a:srgbClr val="0F172A"/>
                </a:solidFill>
              </a:defRPr>
            </a:pPr>
            <a:r>
              <a:t>4. Tanda Tangan Sebelah Kanan: Panduan ketat mengingatkan klien menandatangani di sebelah kanan meterai (tidak menimpa fisik barcode meterai).</a:t>
            </a:r>
          </a:p>
        </p:txBody>
      </p:sp>
      <p:sp>
        <p:nvSpPr>
          <p:cNvPr id="7" name="Rounded Rectangle 6"/>
          <p:cNvSpPr/>
          <p:nvPr/>
        </p:nvSpPr>
        <p:spPr>
          <a:xfrm>
            <a:off x="6217920" y="2194560"/>
            <a:ext cx="5212080" cy="38404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468880"/>
            <a:ext cx="4663440" cy="3291840"/>
          </a:xfrm>
          <a:prstGeom prst="rect">
            <a:avLst/>
          </a:prstGeom>
          <a:noFill/>
        </p:spPr>
        <p:txBody>
          <a:bodyPr wrap="square">
            <a:spAutoFit/>
          </a:bodyPr>
          <a:lstStyle/>
          <a:p>
            <a:pPr>
              <a:spcAft>
                <a:spcPts val="1200"/>
              </a:spcAft>
              <a:defRPr b="1" sz="1600">
                <a:solidFill>
                  <a:srgbClr val="0F172A"/>
                </a:solidFill>
              </a:defRPr>
            </a:pPr>
            <a:r>
              <a:t>Mengapa Ini Sangat Krusial?</a:t>
            </a:r>
          </a:p>
          <a:p>
            <a:pPr>
              <a:spcAft>
                <a:spcPts val="800"/>
              </a:spcAft>
              <a:defRPr sz="1150">
                <a:solidFill>
                  <a:srgbClr val="0F172A"/>
                </a:solidFill>
              </a:defRPr>
            </a:pPr>
            <a:r>
              <a:t>✓ Kekuatan Alat Bukti: Dokumen perdata di atas Rp5.000.000 sah sebagai alat bukti hukum sesuai UU RI jika dibubuhi bea meterai.</a:t>
            </a:r>
          </a:p>
          <a:p>
            <a:pPr>
              <a:spcAft>
                <a:spcPts val="800"/>
              </a:spcAft>
              <a:defRPr sz="1150">
                <a:solidFill>
                  <a:srgbClr val="0F172A"/>
                </a:solidFill>
              </a:defRPr>
            </a:pPr>
            <a:r>
              <a:t>✓ Menghindari Kesalahan Umum: Banyak orang menempelkan tanda tangan menimpa barcode e-materai sehingga gagal verifikasi Peruri.</a:t>
            </a:r>
          </a:p>
          <a:p>
            <a:pPr>
              <a:spcAft>
                <a:spcPts val="800"/>
              </a:spcAft>
              <a:defRPr sz="1150">
                <a:solidFill>
                  <a:srgbClr val="0F172A"/>
                </a:solidFill>
              </a:defRPr>
            </a:pPr>
            <a:r>
              <a:t>✓ Edukasi Otomatis: KontrakKu memberikan reminder visual kepada kedua pihak sehingga proses berjalan sesuai standar hukum formal.</a:t>
            </a:r>
          </a:p>
          <a:p>
            <a:pPr>
              <a:spcAft>
                <a:spcPts val="800"/>
              </a:spcAft>
              <a:defRPr sz="1150">
                <a:solidFill>
                  <a:srgbClr val="0F172A"/>
                </a:solidFill>
              </a:defRPr>
            </a:pPr>
            <a:r>
              <a:t>✓ Rasa Percaya Klien: Klien korporat merasa lebih aman dan menghormati profesionalitas freelancer.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365760"/>
          </a:xfrm>
          <a:prstGeom prst="rect">
            <a:avLst/>
          </a:prstGeom>
          <a:noFill/>
        </p:spPr>
        <p:txBody>
          <a:bodyPr wrap="none">
            <a:spAutoFit/>
          </a:bodyPr>
          <a:lstStyle/>
          <a:p>
            <a:pPr>
              <a:defRPr sz="1100" b="1">
                <a:solidFill>
                  <a:srgbClr val="0A1FD4"/>
                </a:solidFill>
                <a:latin typeface="Arial"/>
              </a:defRPr>
            </a:pPr>
            <a:r>
              <a:t>SKENARIO LIVE DEMO</a:t>
            </a:r>
          </a:p>
        </p:txBody>
      </p:sp>
      <p:sp>
        <p:nvSpPr>
          <p:cNvPr id="3" name="TextBox 2"/>
          <p:cNvSpPr txBox="1"/>
          <p:nvPr/>
        </p:nvSpPr>
        <p:spPr>
          <a:xfrm>
            <a:off x="731520" y="868680"/>
            <a:ext cx="10515600" cy="731520"/>
          </a:xfrm>
          <a:prstGeom prst="rect">
            <a:avLst/>
          </a:prstGeom>
          <a:noFill/>
        </p:spPr>
        <p:txBody>
          <a:bodyPr wrap="none">
            <a:spAutoFit/>
          </a:bodyPr>
          <a:lstStyle/>
          <a:p>
            <a:pPr>
              <a:defRPr sz="2600" b="1">
                <a:solidFill>
                  <a:srgbClr val="0F172A"/>
                </a:solidFill>
                <a:latin typeface="Arial"/>
              </a:defRPr>
            </a:pPr>
            <a:r>
              <a:t>4 Langkah Mudah: Dari Draf hingga Dokumen Sah</a:t>
            </a:r>
          </a:p>
        </p:txBody>
      </p:sp>
      <p:sp>
        <p:nvSpPr>
          <p:cNvPr id="4" name="TextBox 3"/>
          <p:cNvSpPr txBox="1"/>
          <p:nvPr/>
        </p:nvSpPr>
        <p:spPr>
          <a:xfrm>
            <a:off x="731520" y="1600200"/>
            <a:ext cx="10515600" cy="457200"/>
          </a:xfrm>
          <a:prstGeom prst="rect">
            <a:avLst/>
          </a:prstGeom>
          <a:noFill/>
        </p:spPr>
        <p:txBody>
          <a:bodyPr wrap="none">
            <a:spAutoFit/>
          </a:bodyPr>
          <a:lstStyle/>
          <a:p>
            <a:pPr>
              <a:defRPr sz="1300">
                <a:solidFill>
                  <a:srgbClr val="64748B"/>
                </a:solidFill>
                <a:latin typeface="Arial"/>
              </a:defRPr>
            </a:pPr>
            <a:r>
              <a:t>Alur mulus yang memakan waktu kurang dari 3 menit untuk memproteksi proyek jutaan rupiah.</a:t>
            </a:r>
          </a:p>
        </p:txBody>
      </p:sp>
      <p:sp>
        <p:nvSpPr>
          <p:cNvPr id="5" name="Rounded Rectangle 4"/>
          <p:cNvSpPr/>
          <p:nvPr/>
        </p:nvSpPr>
        <p:spPr>
          <a:xfrm>
            <a:off x="731520" y="2194560"/>
            <a:ext cx="251460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68880"/>
            <a:ext cx="2148840" cy="3291840"/>
          </a:xfrm>
          <a:prstGeom prst="rect">
            <a:avLst/>
          </a:prstGeom>
          <a:noFill/>
        </p:spPr>
        <p:txBody>
          <a:bodyPr wrap="square">
            <a:spAutoFit/>
          </a:bodyPr>
          <a:lstStyle/>
          <a:p>
            <a:pPr>
              <a:spcAft>
                <a:spcPts val="800"/>
              </a:spcAft>
              <a:defRPr sz="2200" b="1">
                <a:solidFill>
                  <a:srgbClr val="0A1FD4"/>
                </a:solidFill>
              </a:defRPr>
            </a:pPr>
            <a:r>
              <a:t>01</a:t>
            </a:r>
          </a:p>
          <a:p>
            <a:pPr>
              <a:spcAft>
                <a:spcPts val="800"/>
              </a:spcAft>
              <a:defRPr sz="1400" b="1">
                <a:solidFill>
                  <a:srgbClr val="0F172A"/>
                </a:solidFill>
              </a:defRPr>
            </a:pPr>
            <a:r>
              <a:t>Buat Kesepakatan</a:t>
            </a:r>
          </a:p>
          <a:p>
            <a:pPr>
              <a:defRPr sz="1100">
                <a:solidFill>
                  <a:srgbClr val="64748B"/>
                </a:solidFill>
              </a:defRPr>
            </a:pPr>
            <a:r>
              <a:t>Freelancer mengisi info proyek, deliverables, batasan, kuota revisi, dan termin DP 50% / Pelunasan 50%.</a:t>
            </a:r>
          </a:p>
        </p:txBody>
      </p:sp>
      <p:sp>
        <p:nvSpPr>
          <p:cNvPr id="7" name="Rounded Rectangle 6"/>
          <p:cNvSpPr/>
          <p:nvPr/>
        </p:nvSpPr>
        <p:spPr>
          <a:xfrm>
            <a:off x="3429000" y="2194560"/>
            <a:ext cx="251460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2468880"/>
            <a:ext cx="2148840" cy="3291840"/>
          </a:xfrm>
          <a:prstGeom prst="rect">
            <a:avLst/>
          </a:prstGeom>
          <a:noFill/>
        </p:spPr>
        <p:txBody>
          <a:bodyPr wrap="square">
            <a:spAutoFit/>
          </a:bodyPr>
          <a:lstStyle/>
          <a:p>
            <a:pPr>
              <a:spcAft>
                <a:spcPts val="800"/>
              </a:spcAft>
              <a:defRPr sz="2200" b="1">
                <a:solidFill>
                  <a:srgbClr val="0A1FD4"/>
                </a:solidFill>
              </a:defRPr>
            </a:pPr>
            <a:r>
              <a:t>02</a:t>
            </a:r>
          </a:p>
          <a:p>
            <a:pPr>
              <a:spcAft>
                <a:spcPts val="800"/>
              </a:spcAft>
              <a:defRPr sz="1400" b="1">
                <a:solidFill>
                  <a:srgbClr val="0F172A"/>
                </a:solidFill>
              </a:defRPr>
            </a:pPr>
            <a:r>
              <a:t>Client Review &amp; Sign</a:t>
            </a:r>
          </a:p>
          <a:p>
            <a:pPr>
              <a:defRPr sz="1100">
                <a:solidFill>
                  <a:srgbClr val="64748B"/>
                </a:solidFill>
              </a:defRPr>
            </a:pPr>
            <a:r>
              <a:t>Klien membuka link unik, melihat ringkasan klausul, dan membubuhkan tanda tangan digital di canvas interaktif.</a:t>
            </a:r>
          </a:p>
        </p:txBody>
      </p:sp>
      <p:sp>
        <p:nvSpPr>
          <p:cNvPr id="9" name="Rounded Rectangle 8"/>
          <p:cNvSpPr/>
          <p:nvPr/>
        </p:nvSpPr>
        <p:spPr>
          <a:xfrm>
            <a:off x="6126480" y="2194560"/>
            <a:ext cx="251460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2468880"/>
            <a:ext cx="2148840" cy="3291840"/>
          </a:xfrm>
          <a:prstGeom prst="rect">
            <a:avLst/>
          </a:prstGeom>
          <a:noFill/>
        </p:spPr>
        <p:txBody>
          <a:bodyPr wrap="square">
            <a:spAutoFit/>
          </a:bodyPr>
          <a:lstStyle/>
          <a:p>
            <a:pPr>
              <a:spcAft>
                <a:spcPts val="800"/>
              </a:spcAft>
              <a:defRPr sz="2200" b="1">
                <a:solidFill>
                  <a:srgbClr val="0A1FD4"/>
                </a:solidFill>
              </a:defRPr>
            </a:pPr>
            <a:r>
              <a:t>03</a:t>
            </a:r>
          </a:p>
          <a:p>
            <a:pPr>
              <a:spcAft>
                <a:spcPts val="800"/>
              </a:spcAft>
              <a:defRPr sz="1400" b="1">
                <a:solidFill>
                  <a:srgbClr val="0F172A"/>
                </a:solidFill>
              </a:defRPr>
            </a:pPr>
            <a:r>
              <a:t>Tempel e-Materai</a:t>
            </a:r>
          </a:p>
          <a:p>
            <a:pPr>
              <a:defRPr sz="1100">
                <a:solidFill>
                  <a:srgbClr val="64748B"/>
                </a:solidFill>
              </a:defRPr>
            </a:pPr>
            <a:r>
              <a:t>Freelancer menempelkan file e-materai resmi. Sistem menata posisinya di atas nama pihak kedua secara otomatis.</a:t>
            </a:r>
          </a:p>
        </p:txBody>
      </p:sp>
      <p:sp>
        <p:nvSpPr>
          <p:cNvPr id="11" name="Rounded Rectangle 10"/>
          <p:cNvSpPr/>
          <p:nvPr/>
        </p:nvSpPr>
        <p:spPr>
          <a:xfrm>
            <a:off x="8823960" y="2194560"/>
            <a:ext cx="251460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6840" y="2468880"/>
            <a:ext cx="2148840" cy="3291840"/>
          </a:xfrm>
          <a:prstGeom prst="rect">
            <a:avLst/>
          </a:prstGeom>
          <a:noFill/>
        </p:spPr>
        <p:txBody>
          <a:bodyPr wrap="square">
            <a:spAutoFit/>
          </a:bodyPr>
          <a:lstStyle/>
          <a:p>
            <a:pPr>
              <a:spcAft>
                <a:spcPts val="800"/>
              </a:spcAft>
              <a:defRPr sz="2200" b="1">
                <a:solidFill>
                  <a:srgbClr val="0A1FD4"/>
                </a:solidFill>
              </a:defRPr>
            </a:pPr>
            <a:r>
              <a:t>04</a:t>
            </a:r>
          </a:p>
          <a:p>
            <a:pPr>
              <a:spcAft>
                <a:spcPts val="800"/>
              </a:spcAft>
              <a:defRPr sz="1400" b="1">
                <a:solidFill>
                  <a:srgbClr val="0F172A"/>
                </a:solidFill>
              </a:defRPr>
            </a:pPr>
            <a:r>
              <a:t>Cek Keaslian &amp; QR</a:t>
            </a:r>
          </a:p>
          <a:p>
            <a:pPr>
              <a:defRPr sz="1100">
                <a:solidFill>
                  <a:srgbClr val="64748B"/>
                </a:solidFill>
              </a:defRPr>
            </a:pPr>
            <a:r>
              <a:t>Buka halaman verifikasi publik dengan Contract ID KK-2026-00124. Segel digital terbukti sah dan tak bisa dimanipulasi.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365760"/>
          </a:xfrm>
          <a:prstGeom prst="rect">
            <a:avLst/>
          </a:prstGeom>
          <a:noFill/>
        </p:spPr>
        <p:txBody>
          <a:bodyPr wrap="none">
            <a:spAutoFit/>
          </a:bodyPr>
          <a:lstStyle/>
          <a:p>
            <a:pPr>
              <a:defRPr sz="1100" b="1">
                <a:solidFill>
                  <a:srgbClr val="0A1FD4"/>
                </a:solidFill>
                <a:latin typeface="Arial"/>
              </a:defRPr>
            </a:pPr>
            <a:r>
              <a:t>MODEL BISNIS &amp; MONETISASI</a:t>
            </a:r>
          </a:p>
        </p:txBody>
      </p:sp>
      <p:sp>
        <p:nvSpPr>
          <p:cNvPr id="3" name="TextBox 2"/>
          <p:cNvSpPr txBox="1"/>
          <p:nvPr/>
        </p:nvSpPr>
        <p:spPr>
          <a:xfrm>
            <a:off x="731520" y="868680"/>
            <a:ext cx="10515600" cy="731520"/>
          </a:xfrm>
          <a:prstGeom prst="rect">
            <a:avLst/>
          </a:prstGeom>
          <a:noFill/>
        </p:spPr>
        <p:txBody>
          <a:bodyPr wrap="none">
            <a:spAutoFit/>
          </a:bodyPr>
          <a:lstStyle/>
          <a:p>
            <a:pPr>
              <a:defRPr sz="2600" b="1">
                <a:solidFill>
                  <a:srgbClr val="0F172A"/>
                </a:solidFill>
                <a:latin typeface="Arial"/>
              </a:defRPr>
            </a:pPr>
            <a:r>
              <a:t>Investasi Rp19.000 untuk Proteksi Senilai Rp8.000.000</a:t>
            </a:r>
          </a:p>
        </p:txBody>
      </p:sp>
      <p:sp>
        <p:nvSpPr>
          <p:cNvPr id="4" name="TextBox 3"/>
          <p:cNvSpPr txBox="1"/>
          <p:nvPr/>
        </p:nvSpPr>
        <p:spPr>
          <a:xfrm>
            <a:off x="731520" y="1600200"/>
            <a:ext cx="10515600" cy="457200"/>
          </a:xfrm>
          <a:prstGeom prst="rect">
            <a:avLst/>
          </a:prstGeom>
          <a:noFill/>
        </p:spPr>
        <p:txBody>
          <a:bodyPr wrap="none">
            <a:spAutoFit/>
          </a:bodyPr>
          <a:lstStyle/>
          <a:p>
            <a:pPr>
              <a:defRPr sz="1300">
                <a:solidFill>
                  <a:srgbClr val="64748B"/>
                </a:solidFill>
                <a:latin typeface="Arial"/>
              </a:defRPr>
            </a:pPr>
            <a:r>
              <a:t>Model monetisasi transparan yang sangat disukai pasar freelancer.</a:t>
            </a:r>
          </a:p>
        </p:txBody>
      </p:sp>
      <p:sp>
        <p:nvSpPr>
          <p:cNvPr id="5" name="Rounded Rectangle 4"/>
          <p:cNvSpPr/>
          <p:nvPr/>
        </p:nvSpPr>
        <p:spPr>
          <a:xfrm>
            <a:off x="731520" y="219456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377440"/>
            <a:ext cx="2926080" cy="3474720"/>
          </a:xfrm>
          <a:prstGeom prst="rect">
            <a:avLst/>
          </a:prstGeom>
          <a:noFill/>
        </p:spPr>
        <p:txBody>
          <a:bodyPr wrap="square">
            <a:spAutoFit/>
          </a:bodyPr>
          <a:lstStyle/>
          <a:p>
            <a:pPr>
              <a:defRPr sz="1400" b="1">
                <a:solidFill>
                  <a:srgbClr val="64748B"/>
                </a:solidFill>
              </a:defRPr>
            </a:pPr>
            <a:r>
              <a:t>FREE</a:t>
            </a:r>
          </a:p>
          <a:p>
            <a:pPr>
              <a:defRPr sz="2400" b="1">
                <a:solidFill>
                  <a:srgbClr val="0F172A"/>
                </a:solidFill>
              </a:defRPr>
            </a:pPr>
            <a:r>
              <a:t>Rp0</a:t>
            </a:r>
          </a:p>
          <a:p>
            <a:pPr>
              <a:spcAft>
                <a:spcPts val="1000"/>
              </a:spcAft>
              <a:defRPr sz="1050">
                <a:solidFill>
                  <a:srgbClr val="64748B"/>
                </a:solidFill>
              </a:defRPr>
            </a:pPr>
            <a:r>
              <a:t>Untuk Freelancer Pemula</a:t>
            </a:r>
          </a:p>
          <a:p>
            <a:pPr>
              <a:spcAft>
                <a:spcPts val="400"/>
              </a:spcAft>
              <a:defRPr sz="1050">
                <a:solidFill>
                  <a:srgbClr val="0F172A"/>
                </a:solidFill>
              </a:defRPr>
            </a:pPr>
            <a:r>
              <a:t>✓ Maksimal 2 kesepakatan aktif</a:t>
            </a:r>
          </a:p>
          <a:p>
            <a:pPr>
              <a:spcAft>
                <a:spcPts val="400"/>
              </a:spcAft>
              <a:defRPr sz="1050">
                <a:solidFill>
                  <a:srgbClr val="0F172A"/>
                </a:solidFill>
              </a:defRPr>
            </a:pPr>
            <a:r>
              <a:t>✓ Template dasar kesepakatan</a:t>
            </a:r>
          </a:p>
          <a:p>
            <a:pPr>
              <a:spcAft>
                <a:spcPts val="400"/>
              </a:spcAft>
              <a:defRPr sz="1050">
                <a:solidFill>
                  <a:srgbClr val="0F172A"/>
                </a:solidFill>
              </a:defRPr>
            </a:pPr>
            <a:r>
              <a:t>✓ Tanda tangan digital 2 pihak</a:t>
            </a:r>
          </a:p>
          <a:p>
            <a:pPr>
              <a:spcAft>
                <a:spcPts val="400"/>
              </a:spcAft>
              <a:defRPr sz="1050">
                <a:solidFill>
                  <a:srgbClr val="0F172A"/>
                </a:solidFill>
              </a:defRPr>
            </a:pPr>
            <a:r>
              <a:t>✓ Ekspor cetak PDF standar</a:t>
            </a:r>
          </a:p>
        </p:txBody>
      </p:sp>
      <p:sp>
        <p:nvSpPr>
          <p:cNvPr id="7" name="Rounded Rectangle 6"/>
          <p:cNvSpPr/>
          <p:nvPr/>
        </p:nvSpPr>
        <p:spPr>
          <a:xfrm>
            <a:off x="4343400" y="2194560"/>
            <a:ext cx="3383280" cy="3840480"/>
          </a:xfrm>
          <a:prstGeom prst="roundRect">
            <a:avLst/>
          </a:prstGeom>
          <a:solidFill>
            <a:srgbClr val="FFFFFF"/>
          </a:solidFill>
          <a:ln w="19050">
            <a:solidFill>
              <a:srgbClr val="0A1F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377440"/>
            <a:ext cx="2926080" cy="3474720"/>
          </a:xfrm>
          <a:prstGeom prst="rect">
            <a:avLst/>
          </a:prstGeom>
          <a:noFill/>
        </p:spPr>
        <p:txBody>
          <a:bodyPr wrap="square">
            <a:spAutoFit/>
          </a:bodyPr>
          <a:lstStyle/>
          <a:p>
            <a:pPr>
              <a:defRPr sz="1400" b="1">
                <a:solidFill>
                  <a:srgbClr val="0A1FD4"/>
                </a:solidFill>
              </a:defRPr>
            </a:pPr>
            <a:r>
              <a:t>PROJECT</a:t>
            </a:r>
          </a:p>
          <a:p>
            <a:pPr>
              <a:defRPr sz="2400" b="1">
                <a:solidFill>
                  <a:srgbClr val="0F172A"/>
                </a:solidFill>
              </a:defRPr>
            </a:pPr>
            <a:r>
              <a:t>Rp19.000</a:t>
            </a:r>
          </a:p>
          <a:p>
            <a:pPr>
              <a:spcAft>
                <a:spcPts val="1000"/>
              </a:spcAft>
              <a:defRPr sz="1050">
                <a:solidFill>
                  <a:srgbClr val="64748B"/>
                </a:solidFill>
              </a:defRPr>
            </a:pPr>
            <a:r>
              <a:t>Pay-per-Project (Favorit)</a:t>
            </a:r>
          </a:p>
          <a:p>
            <a:pPr>
              <a:spcAft>
                <a:spcPts val="400"/>
              </a:spcAft>
              <a:defRPr sz="1050">
                <a:solidFill>
                  <a:srgbClr val="0F172A"/>
                </a:solidFill>
              </a:defRPr>
            </a:pPr>
            <a:r>
              <a:t>✓ Fitur unggah e-Materai resmi</a:t>
            </a:r>
          </a:p>
          <a:p>
            <a:pPr>
              <a:spcAft>
                <a:spcPts val="400"/>
              </a:spcAft>
              <a:defRPr sz="1050">
                <a:solidFill>
                  <a:srgbClr val="0F172A"/>
                </a:solidFill>
              </a:defRPr>
            </a:pPr>
            <a:r>
              <a:t>✓ Versioning tak terbatas (v1, v2..)</a:t>
            </a:r>
          </a:p>
          <a:p>
            <a:pPr>
              <a:spcAft>
                <a:spcPts val="400"/>
              </a:spcAft>
              <a:defRPr sz="1050">
                <a:solidFill>
                  <a:srgbClr val="0F172A"/>
                </a:solidFill>
              </a:defRPr>
            </a:pPr>
            <a:r>
              <a:t>✓ Modul Change Request resmi</a:t>
            </a:r>
          </a:p>
          <a:p>
            <a:pPr>
              <a:spcAft>
                <a:spcPts val="400"/>
              </a:spcAft>
              <a:defRPr sz="1050">
                <a:solidFill>
                  <a:srgbClr val="0F172A"/>
                </a:solidFill>
              </a:defRPr>
            </a:pPr>
            <a:r>
              <a:t>✓ Segel Keamanan Digital penuh</a:t>
            </a:r>
          </a:p>
        </p:txBody>
      </p:sp>
      <p:sp>
        <p:nvSpPr>
          <p:cNvPr id="9" name="Rounded Rectangle 8"/>
          <p:cNvSpPr/>
          <p:nvPr/>
        </p:nvSpPr>
        <p:spPr>
          <a:xfrm>
            <a:off x="7955280" y="219456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2377440"/>
            <a:ext cx="2926080" cy="3474720"/>
          </a:xfrm>
          <a:prstGeom prst="rect">
            <a:avLst/>
          </a:prstGeom>
          <a:noFill/>
        </p:spPr>
        <p:txBody>
          <a:bodyPr wrap="square">
            <a:spAutoFit/>
          </a:bodyPr>
          <a:lstStyle/>
          <a:p>
            <a:pPr>
              <a:defRPr sz="1400" b="1">
                <a:solidFill>
                  <a:srgbClr val="64748B"/>
                </a:solidFill>
              </a:defRPr>
            </a:pPr>
            <a:r>
              <a:t>PRO</a:t>
            </a:r>
          </a:p>
          <a:p>
            <a:pPr>
              <a:defRPr sz="2400" b="1">
                <a:solidFill>
                  <a:srgbClr val="0F172A"/>
                </a:solidFill>
              </a:defRPr>
            </a:pPr>
            <a:r>
              <a:t>Rp49.000</a:t>
            </a:r>
          </a:p>
          <a:p>
            <a:pPr>
              <a:spcAft>
                <a:spcPts val="1000"/>
              </a:spcAft>
              <a:defRPr sz="1050">
                <a:solidFill>
                  <a:srgbClr val="64748B"/>
                </a:solidFill>
              </a:defRPr>
            </a:pPr>
            <a:r>
              <a:t>Langganan Bulanan</a:t>
            </a:r>
          </a:p>
          <a:p>
            <a:pPr>
              <a:spcAft>
                <a:spcPts val="400"/>
              </a:spcAft>
              <a:defRPr sz="1050">
                <a:solidFill>
                  <a:srgbClr val="0F172A"/>
                </a:solidFill>
              </a:defRPr>
            </a:pPr>
            <a:r>
              <a:t>✓ Unlimited active agreements</a:t>
            </a:r>
          </a:p>
          <a:p>
            <a:pPr>
              <a:spcAft>
                <a:spcPts val="400"/>
              </a:spcAft>
              <a:defRPr sz="1050">
                <a:solidFill>
                  <a:srgbClr val="0F172A"/>
                </a:solidFill>
              </a:defRPr>
            </a:pPr>
            <a:r>
              <a:t>✓ Buku kontak klien &amp; template</a:t>
            </a:r>
          </a:p>
          <a:p>
            <a:pPr>
              <a:spcAft>
                <a:spcPts val="400"/>
              </a:spcAft>
              <a:defRPr sz="1050">
                <a:solidFill>
                  <a:srgbClr val="0F172A"/>
                </a:solidFill>
              </a:defRPr>
            </a:pPr>
            <a:r>
              <a:t>✓ Dashboard status termin pembayaran</a:t>
            </a:r>
          </a:p>
          <a:p>
            <a:pPr>
              <a:spcAft>
                <a:spcPts val="400"/>
              </a:spcAft>
              <a:defRPr sz="1050">
                <a:solidFill>
                  <a:srgbClr val="0F172A"/>
                </a:solidFill>
              </a:defRPr>
            </a:pPr>
            <a:r>
              <a:t>✓ Custom branding logo agensi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365760"/>
          </a:xfrm>
          <a:prstGeom prst="rect">
            <a:avLst/>
          </a:prstGeom>
          <a:noFill/>
        </p:spPr>
        <p:txBody>
          <a:bodyPr wrap="none">
            <a:spAutoFit/>
          </a:bodyPr>
          <a:lstStyle/>
          <a:p>
            <a:pPr>
              <a:defRPr sz="1100" b="1">
                <a:solidFill>
                  <a:srgbClr val="0A1FD4"/>
                </a:solidFill>
                <a:latin typeface="Arial"/>
              </a:defRPr>
            </a:pPr>
            <a:r>
              <a:t>VISI &amp; KESIMPULAN</a:t>
            </a:r>
          </a:p>
        </p:txBody>
      </p:sp>
      <p:sp>
        <p:nvSpPr>
          <p:cNvPr id="3" name="TextBox 2"/>
          <p:cNvSpPr txBox="1"/>
          <p:nvPr/>
        </p:nvSpPr>
        <p:spPr>
          <a:xfrm>
            <a:off x="731520" y="868680"/>
            <a:ext cx="10515600" cy="731520"/>
          </a:xfrm>
          <a:prstGeom prst="rect">
            <a:avLst/>
          </a:prstGeom>
          <a:noFill/>
        </p:spPr>
        <p:txBody>
          <a:bodyPr wrap="none">
            <a:spAutoFit/>
          </a:bodyPr>
          <a:lstStyle/>
          <a:p>
            <a:pPr>
              <a:defRPr sz="2600" b="1">
                <a:solidFill>
                  <a:srgbClr val="0F172A"/>
                </a:solidFill>
                <a:latin typeface="Arial"/>
              </a:defRPr>
            </a:pPr>
            <a:r>
              <a:t>Membangun Standar Baru Ekonomi Gig di Indonesia</a:t>
            </a:r>
          </a:p>
        </p:txBody>
      </p:sp>
      <p:sp>
        <p:nvSpPr>
          <p:cNvPr id="4" name="TextBox 3"/>
          <p:cNvSpPr txBox="1"/>
          <p:nvPr/>
        </p:nvSpPr>
        <p:spPr>
          <a:xfrm>
            <a:off x="731520" y="1600200"/>
            <a:ext cx="10515600" cy="457200"/>
          </a:xfrm>
          <a:prstGeom prst="rect">
            <a:avLst/>
          </a:prstGeom>
          <a:noFill/>
        </p:spPr>
        <p:txBody>
          <a:bodyPr wrap="none">
            <a:spAutoFit/>
          </a:bodyPr>
          <a:lstStyle/>
          <a:p>
            <a:pPr>
              <a:defRPr sz="1300">
                <a:solidFill>
                  <a:srgbClr val="64748B"/>
                </a:solidFill>
                <a:latin typeface="Arial"/>
              </a:defRPr>
            </a:pPr>
            <a:r>
              <a:t>Dari kesepakatan informal berisiko menuju ekosistem profesional yang saling percaya.</a:t>
            </a:r>
          </a:p>
        </p:txBody>
      </p:sp>
      <p:sp>
        <p:nvSpPr>
          <p:cNvPr id="5" name="Rounded Rectangle 4"/>
          <p:cNvSpPr/>
          <p:nvPr/>
        </p:nvSpPr>
        <p:spPr>
          <a:xfrm>
            <a:off x="731520" y="2194560"/>
            <a:ext cx="10728655" cy="27432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468880"/>
            <a:ext cx="9966960" cy="2194560"/>
          </a:xfrm>
          <a:prstGeom prst="rect">
            <a:avLst/>
          </a:prstGeom>
          <a:noFill/>
        </p:spPr>
        <p:txBody>
          <a:bodyPr wrap="square">
            <a:spAutoFit/>
          </a:bodyPr>
          <a:lstStyle/>
          <a:p>
            <a:pPr>
              <a:spcAft>
                <a:spcPts val="1000"/>
              </a:spcAft>
              <a:defRPr sz="1800" b="1">
                <a:solidFill>
                  <a:srgbClr val="0A1FD4"/>
                </a:solidFill>
              </a:defRPr>
            </a:pPr>
            <a:r>
              <a:t>Misi Kami: Nol Sengketa untuk Talenta Digital Indonesia</a:t>
            </a:r>
          </a:p>
          <a:p>
            <a:pPr>
              <a:spcAft>
                <a:spcPts val="1400"/>
              </a:spcAft>
              <a:defRPr sz="1300">
                <a:solidFill>
                  <a:srgbClr val="0F172A"/>
                </a:solidFill>
              </a:defRPr>
            </a:pPr>
            <a:r>
              <a:t>KontrakKu bukan sekadar aplikasi pembuatan PDF, melainkan fondasi kepercayaan bagi jutaan pekerja lepas digital dan pelaku UMKM di Indonesia. Dengan menghilangkan friksi hukum dan memberikan kepastian tertulis yang adil, kami memastikan setiap talenta kreatif mendapatkan haknya secara bermartabat.</a:t>
            </a:r>
          </a:p>
          <a:p>
            <a:pPr>
              <a:defRPr sz="1300" b="1">
                <a:solidFill>
                  <a:srgbClr val="0A1FD4"/>
                </a:solidFill>
              </a:defRPr>
            </a:pPr>
            <a:r>
              <a:t>Terima Kasih! | Sesi Tanya Jawab (Q&amp;A) | KontrakKu — Sah, Praktis, Terlindungi.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